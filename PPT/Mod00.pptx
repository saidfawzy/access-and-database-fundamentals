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82" r:id="rId4"/>
    <p:sldId id="283" r:id="rId5"/>
    <p:sldId id="286" r:id="rId6"/>
    <p:sldId id="292" r:id="rId7"/>
    <p:sldId id="284" r:id="rId8"/>
    <p:sldId id="285" r:id="rId9"/>
    <p:sldId id="291" r:id="rId10"/>
    <p:sldId id="288" r:id="rId11"/>
    <p:sldId id="293" r:id="rId12"/>
    <p:sldId id="274" r:id="rId13"/>
    <p:sldId id="275" r:id="rId14"/>
    <p:sldId id="289" r:id="rId15"/>
    <p:sldId id="416" r:id="rId16"/>
    <p:sldId id="290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86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866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226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0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1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0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8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0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3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781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11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351593ED-BF40-D400-CFBA-E3973135B9B1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555A09F-2F02-20CB-CA0C-1C668FDFDEA7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6A25074A-8FD9-A00C-4969-D6A882686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7F4848C-4979-9F93-6359-11511408B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7" name="Picture 6" descr="Logo, icon&#10;&#10;Description automatically generated">
              <a:extLst>
                <a:ext uri="{FF2B5EF4-FFF2-40B4-BE49-F238E27FC236}">
                  <a16:creationId xmlns:a16="http://schemas.microsoft.com/office/drawing/2014/main" id="{3990914A-5FE2-1177-63A2-203FD6C352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9B76BFE-E156-79F0-5420-6EE9D97304BD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6" name="Text Box 1">
            <a:extLst>
              <a:ext uri="{FF2B5EF4-FFF2-40B4-BE49-F238E27FC236}">
                <a16:creationId xmlns:a16="http://schemas.microsoft.com/office/drawing/2014/main" id="{5CD08763-197B-74F1-1EAF-87E34346942C}"/>
              </a:ext>
            </a:extLst>
          </p:cNvPr>
          <p:cNvSpPr txBox="1"/>
          <p:nvPr/>
        </p:nvSpPr>
        <p:spPr>
          <a:xfrm>
            <a:off x="0" y="438230"/>
            <a:ext cx="12192000" cy="2032801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6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12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36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6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6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38F3998-FBB4-12E5-547F-8685A2CB9EB1}"/>
              </a:ext>
            </a:extLst>
          </p:cNvPr>
          <p:cNvGrpSpPr/>
          <p:nvPr/>
        </p:nvGrpSpPr>
        <p:grpSpPr>
          <a:xfrm>
            <a:off x="4080827" y="2563035"/>
            <a:ext cx="4030345" cy="1918335"/>
            <a:chOff x="0" y="64385"/>
            <a:chExt cx="4030470" cy="1918335"/>
          </a:xfrm>
        </p:grpSpPr>
        <p:pic>
          <p:nvPicPr>
            <p:cNvPr id="18" name="Picture 17" descr="Microsoft Access - Wikipedia">
              <a:extLst>
                <a:ext uri="{FF2B5EF4-FFF2-40B4-BE49-F238E27FC236}">
                  <a16:creationId xmlns:a16="http://schemas.microsoft.com/office/drawing/2014/main" id="{65762430-869E-AEAF-C180-2FA4135DF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Picture 18" descr="Database | Bruker">
              <a:extLst>
                <a:ext uri="{FF2B5EF4-FFF2-40B4-BE49-F238E27FC236}">
                  <a16:creationId xmlns:a16="http://schemas.microsoft.com/office/drawing/2014/main" id="{F02EBFD9-B0E7-0505-9D6B-0CC758F8D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725923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D88DB7DF-82A5-8638-8A8A-1B1AB586636C}"/>
              </a:ext>
            </a:extLst>
          </p:cNvPr>
          <p:cNvSpPr txBox="1"/>
          <p:nvPr/>
        </p:nvSpPr>
        <p:spPr>
          <a:xfrm>
            <a:off x="0" y="924389"/>
            <a:ext cx="4302081" cy="26032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Database Fundamentals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And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Microsoft Access</a:t>
            </a:r>
            <a:r>
              <a:rPr lang="en-US" sz="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en-US" sz="1100" b="1" dirty="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 Beginners</a:t>
            </a:r>
            <a:endParaRPr lang="en-US" sz="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93F85E-60D9-7CC9-400C-BC0E8819711F}"/>
              </a:ext>
            </a:extLst>
          </p:cNvPr>
          <p:cNvGrpSpPr/>
          <p:nvPr/>
        </p:nvGrpSpPr>
        <p:grpSpPr>
          <a:xfrm>
            <a:off x="780383" y="166589"/>
            <a:ext cx="1593831" cy="727012"/>
            <a:chOff x="0" y="64385"/>
            <a:chExt cx="4030470" cy="1918335"/>
          </a:xfrm>
        </p:grpSpPr>
        <p:pic>
          <p:nvPicPr>
            <p:cNvPr id="4" name="Picture 3" descr="Microsoft Access - Wikipedia">
              <a:extLst>
                <a:ext uri="{FF2B5EF4-FFF2-40B4-BE49-F238E27FC236}">
                  <a16:creationId xmlns:a16="http://schemas.microsoft.com/office/drawing/2014/main" id="{D360C89A-C0B7-C0A4-1469-9B9A4AA4B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4394"/>
              <a:ext cx="1905635" cy="1860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 descr="Database | Bruker">
              <a:extLst>
                <a:ext uri="{FF2B5EF4-FFF2-40B4-BE49-F238E27FC236}">
                  <a16:creationId xmlns:a16="http://schemas.microsoft.com/office/drawing/2014/main" id="{0CEDD230-A06B-646A-510A-E0B8C6454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135" y="64385"/>
              <a:ext cx="1918335" cy="191833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ABB2C33-E227-EBE0-B24C-4CC6A38B7490}"/>
              </a:ext>
            </a:extLst>
          </p:cNvPr>
          <p:cNvGrpSpPr/>
          <p:nvPr/>
        </p:nvGrpSpPr>
        <p:grpSpPr>
          <a:xfrm>
            <a:off x="301077" y="4573374"/>
            <a:ext cx="11372492" cy="2133600"/>
            <a:chOff x="247288" y="4528551"/>
            <a:chExt cx="11372492" cy="21336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4F3A574-E4E3-AC65-97AE-AD628225D042}"/>
                </a:ext>
              </a:extLst>
            </p:cNvPr>
            <p:cNvSpPr/>
            <p:nvPr/>
          </p:nvSpPr>
          <p:spPr>
            <a:xfrm>
              <a:off x="552087" y="4528551"/>
              <a:ext cx="11067693" cy="2133600"/>
            </a:xfrm>
            <a:prstGeom prst="roundRect">
              <a:avLst/>
            </a:prstGeom>
            <a:gradFill flip="none" rotWithShape="1">
              <a:gsLst>
                <a:gs pos="0">
                  <a:schemeClr val="bg1"/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rgbClr val="0D3039"/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Picture 7" descr="Graphical user interface, text&#10;&#10;Description automatically generated with medium confidence">
              <a:extLst>
                <a:ext uri="{FF2B5EF4-FFF2-40B4-BE49-F238E27FC236}">
                  <a16:creationId xmlns:a16="http://schemas.microsoft.com/office/drawing/2014/main" id="{3531FB66-61BD-6148-751E-19AA40293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3763" y="5494997"/>
              <a:ext cx="2084032" cy="7155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FD24E-8667-F824-39A9-3F246A57BE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80513" y="5363627"/>
              <a:ext cx="1484300" cy="978289"/>
            </a:xfrm>
            <a:prstGeom prst="rect">
              <a:avLst/>
            </a:prstGeom>
          </p:spPr>
        </p:pic>
        <p:pic>
          <p:nvPicPr>
            <p:cNvPr id="10" name="Picture 9" descr="Logo, icon&#10;&#10;Description automatically generated">
              <a:extLst>
                <a:ext uri="{FF2B5EF4-FFF2-40B4-BE49-F238E27FC236}">
                  <a16:creationId xmlns:a16="http://schemas.microsoft.com/office/drawing/2014/main" id="{8A7861E1-CAF9-1E03-E5AA-F5627BE1D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7187" y="5700877"/>
              <a:ext cx="420827" cy="365694"/>
            </a:xfrm>
            <a:prstGeom prst="rect">
              <a:avLst/>
            </a:prstGeom>
          </p:spPr>
        </p:pic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66E2FA0-F7E1-2270-2937-4DA909CB7AD5}"/>
                </a:ext>
              </a:extLst>
            </p:cNvPr>
            <p:cNvSpPr txBox="1">
              <a:spLocks/>
            </p:cNvSpPr>
            <p:nvPr/>
          </p:nvSpPr>
          <p:spPr>
            <a:xfrm>
              <a:off x="247288" y="4680951"/>
              <a:ext cx="4544490" cy="1828800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Prepared By :</a:t>
              </a:r>
            </a:p>
            <a:p>
              <a:pPr marL="0" indent="0" algn="ctr">
                <a:buNone/>
              </a:pPr>
              <a:r>
                <a:rPr lang="en-US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Said Fawzy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Manager of Information Center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Tendering Department</a:t>
              </a:r>
            </a:p>
            <a:p>
              <a:pPr marL="0" indent="0" algn="ctr">
                <a:buNone/>
              </a:pPr>
              <a:r>
                <a:rPr lang="en-US" sz="1200" b="1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Arab Contractors </a:t>
              </a:r>
            </a:p>
          </p:txBody>
        </p:sp>
      </p:grpSp>
      <p:sp>
        <p:nvSpPr>
          <p:cNvPr id="12" name="Text Box 1">
            <a:extLst>
              <a:ext uri="{FF2B5EF4-FFF2-40B4-BE49-F238E27FC236}">
                <a16:creationId xmlns:a16="http://schemas.microsoft.com/office/drawing/2014/main" id="{9FF8A57A-136B-305E-D927-6C3603E07967}"/>
              </a:ext>
            </a:extLst>
          </p:cNvPr>
          <p:cNvSpPr txBox="1"/>
          <p:nvPr/>
        </p:nvSpPr>
        <p:spPr>
          <a:xfrm>
            <a:off x="43722" y="2726737"/>
            <a:ext cx="12192000" cy="916918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5400" b="1" dirty="0"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Introduction</a:t>
            </a:r>
            <a:endParaRPr lang="en-US" sz="2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646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192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B.SC In Civil Engineering ..Alex University ……………</a:t>
            </a:r>
            <a:r>
              <a:rPr lang="ar-EG" sz="3200" b="1" dirty="0">
                <a:solidFill>
                  <a:srgbClr val="0070C0"/>
                </a:solidFill>
              </a:rPr>
              <a:t>.........................</a:t>
            </a:r>
            <a:r>
              <a:rPr lang="en-US" sz="3200" b="1" dirty="0">
                <a:solidFill>
                  <a:srgbClr val="0070C0"/>
                </a:solidFill>
              </a:rPr>
              <a:t>………………..1987.</a:t>
            </a:r>
            <a:endParaRPr lang="ar-EG" sz="3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3200" b="1" dirty="0">
              <a:solidFill>
                <a:srgbClr val="0070C0"/>
              </a:solidFill>
            </a:endParaRPr>
          </a:p>
          <a:p>
            <a:endParaRPr lang="en-US" sz="3200" b="1" dirty="0">
              <a:solidFill>
                <a:srgbClr val="0070C0"/>
              </a:solidFill>
            </a:endParaRPr>
          </a:p>
        </p:txBody>
      </p:sp>
      <p:pic>
        <p:nvPicPr>
          <p:cNvPr id="1026" name="Picture 2" descr="http://eng.au.alexu.edu.eg/Arabic/PublishingImages/575717_424518667670121_1900565604_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706" y="1796125"/>
            <a:ext cx="1039812" cy="1571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portal.eng.asu.edu.eg/asueng/photo/sbsoidasuengdio/sbsfid4537dif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706" y="4846756"/>
            <a:ext cx="16668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705600" y="646938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600" y="4094471"/>
            <a:ext cx="10718800" cy="1911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000">
                <a:solidFill>
                  <a:schemeClr val="bg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800" b="1" dirty="0">
                <a:solidFill>
                  <a:srgbClr val="0070C0"/>
                </a:solidFill>
              </a:rPr>
              <a:t>High Diploma in Construction Project Management ……</a:t>
            </a:r>
            <a:r>
              <a:rPr lang="en-US" sz="2800" b="1" dirty="0" err="1">
                <a:solidFill>
                  <a:srgbClr val="0070C0"/>
                </a:solidFill>
              </a:rPr>
              <a:t>Eien</a:t>
            </a:r>
            <a:r>
              <a:rPr lang="en-US" sz="2800" b="1" dirty="0">
                <a:solidFill>
                  <a:srgbClr val="0070C0"/>
                </a:solidFill>
              </a:rPr>
              <a:t> Shams University..</a:t>
            </a:r>
            <a:r>
              <a:rPr lang="ar-EG" sz="2800" b="1" dirty="0">
                <a:solidFill>
                  <a:srgbClr val="0070C0"/>
                </a:solidFill>
              </a:rPr>
              <a:t>...</a:t>
            </a:r>
            <a:r>
              <a:rPr lang="en-US" sz="2800" b="1" dirty="0">
                <a:solidFill>
                  <a:srgbClr val="0070C0"/>
                </a:solidFill>
              </a:rPr>
              <a:t>.............................….1988.</a:t>
            </a:r>
          </a:p>
          <a:p>
            <a:endParaRPr lang="en-US" sz="28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569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116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About 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530" y="1396818"/>
            <a:ext cx="11430000" cy="538842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Microsoft Certified Professional (MCP)  ……………………..…………………...1999.</a:t>
            </a:r>
          </a:p>
          <a:p>
            <a:pPr marL="0" indent="0">
              <a:buNone/>
            </a:pPr>
            <a:endParaRPr lang="en-US" sz="2800" b="1" dirty="0">
              <a:solidFill>
                <a:srgbClr val="0070C0"/>
              </a:solidFill>
            </a:endParaRPr>
          </a:p>
          <a:p>
            <a:r>
              <a:rPr lang="en-US" sz="2800" b="1" dirty="0">
                <a:solidFill>
                  <a:srgbClr val="0070C0"/>
                </a:solidFill>
              </a:rPr>
              <a:t>Certified </a:t>
            </a:r>
            <a:r>
              <a:rPr lang="en-US" sz="2800" b="1" dirty="0" err="1">
                <a:solidFill>
                  <a:srgbClr val="0070C0"/>
                </a:solidFill>
              </a:rPr>
              <a:t>InternetWebmaster</a:t>
            </a:r>
            <a:r>
              <a:rPr lang="en-US" sz="2800" b="1" dirty="0">
                <a:solidFill>
                  <a:srgbClr val="0070C0"/>
                </a:solidFill>
              </a:rPr>
              <a:t>(CIW)..2000.</a:t>
            </a:r>
          </a:p>
          <a:p>
            <a:endParaRPr lang="en-US" sz="2800" b="1" dirty="0">
              <a:solidFill>
                <a:srgbClr val="0070C0"/>
              </a:solidFill>
            </a:endParaRPr>
          </a:p>
          <a:p>
            <a:r>
              <a:rPr lang="en-US" sz="2800" b="1" dirty="0">
                <a:solidFill>
                  <a:srgbClr val="0070C0"/>
                </a:solidFill>
              </a:rPr>
              <a:t>Oracle Certified Master (OCM)……2001.</a:t>
            </a:r>
          </a:p>
          <a:p>
            <a:endParaRPr lang="en-US" sz="2800" b="1" dirty="0">
              <a:solidFill>
                <a:srgbClr val="0070C0"/>
              </a:solidFill>
            </a:endParaRPr>
          </a:p>
          <a:p>
            <a:r>
              <a:rPr lang="en-US" sz="2800" b="1" dirty="0">
                <a:solidFill>
                  <a:srgbClr val="0070C0"/>
                </a:solidFill>
              </a:rPr>
              <a:t>Microsoft Certified Technology Specialist(MCTS) …………………………………………...2006.</a:t>
            </a:r>
          </a:p>
          <a:p>
            <a:endParaRPr lang="en-US" sz="2800" b="1" dirty="0">
              <a:solidFill>
                <a:srgbClr val="0070C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703" y="1804959"/>
            <a:ext cx="2398819" cy="5997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861" y="4441323"/>
            <a:ext cx="2219325" cy="76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861" y="2880845"/>
            <a:ext cx="2206661" cy="74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60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116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About 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530" y="1396818"/>
            <a:ext cx="11430000" cy="107575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Quality Management Systems ………..2009</a:t>
            </a:r>
            <a:br>
              <a:rPr lang="en-US" sz="2800" b="1" dirty="0">
                <a:solidFill>
                  <a:srgbClr val="0070C0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ISO 9001:2008</a:t>
            </a:r>
          </a:p>
          <a:p>
            <a:endParaRPr lang="en-US" sz="2800" b="1" dirty="0">
              <a:solidFill>
                <a:srgbClr val="0070C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608" y="662826"/>
            <a:ext cx="1828800" cy="1809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008" y="1077686"/>
            <a:ext cx="1752600" cy="1276350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566530" y="4029189"/>
            <a:ext cx="11430000" cy="1075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Quality Management Systems ………..2016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ISO 9001:2015</a:t>
            </a:r>
          </a:p>
          <a:p>
            <a:endParaRPr lang="en-US" b="1" dirty="0">
              <a:solidFill>
                <a:srgbClr val="0070C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008" y="3710057"/>
            <a:ext cx="1752600" cy="12763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797" y="3398052"/>
            <a:ext cx="1418421" cy="165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1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1161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About Me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530" y="1396818"/>
            <a:ext cx="11430000" cy="107575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0070C0"/>
                </a:solidFill>
              </a:rPr>
              <a:t>Advanced Data Analysis Nanodegree ……...2021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695839" y="3022426"/>
            <a:ext cx="11430000" cy="1075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Nanodegree UX Research Cross-Skilling….2022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735B2-8ED9-10B4-7525-3BB3F82A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4589" y="1257240"/>
            <a:ext cx="2438400" cy="6286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B20A63-0D0C-F7DD-725C-8657CB21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840" y="2800350"/>
            <a:ext cx="2438400" cy="62865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CE693D-8AB3-5F50-0F5C-26AA536A9E46}"/>
              </a:ext>
            </a:extLst>
          </p:cNvPr>
          <p:cNvSpPr txBox="1">
            <a:spLocks/>
          </p:cNvSpPr>
          <p:nvPr/>
        </p:nvSpPr>
        <p:spPr>
          <a:xfrm>
            <a:off x="695839" y="4385424"/>
            <a:ext cx="11430000" cy="1075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70C0"/>
                </a:solidFill>
              </a:rPr>
              <a:t>Nanodegree Advance Marketing Analytics ………...2022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A2527F-2B91-2D0F-A8CD-8E1ADC85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840" y="4184299"/>
            <a:ext cx="2438400" cy="6286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6B3B05E-8D1A-04BA-421F-5A28631CB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4302" y="5408450"/>
            <a:ext cx="1484300" cy="97828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C1038F-1303-2F3F-7418-C78C30F3C805}"/>
              </a:ext>
            </a:extLst>
          </p:cNvPr>
          <p:cNvSpPr txBox="1">
            <a:spLocks/>
          </p:cNvSpPr>
          <p:nvPr/>
        </p:nvSpPr>
        <p:spPr>
          <a:xfrm>
            <a:off x="633086" y="5662307"/>
            <a:ext cx="11430000" cy="10757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0070C0"/>
                </a:solidFill>
              </a:rPr>
              <a:t>IBM Certified Data Analysist Professional ………...2023</a:t>
            </a:r>
          </a:p>
        </p:txBody>
      </p:sp>
    </p:spTree>
    <p:extLst>
      <p:ext uri="{BB962C8B-B14F-4D97-AF65-F5344CB8AC3E}">
        <p14:creationId xmlns:p14="http://schemas.microsoft.com/office/powerpoint/2010/main" val="685639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4423" y="4883186"/>
            <a:ext cx="1167499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0070C0"/>
                </a:solidFill>
              </a:rPr>
              <a:t>https://www.facebook.com/saidfawzy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352425"/>
            <a:ext cx="946785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266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742934"/>
            <a:ext cx="1169102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https://www.youtube.com/user/saidfawzy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87" y="718313"/>
            <a:ext cx="6183313" cy="308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5602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D0BB71-6B38-32B8-73E9-0E8D2FE26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53" y="964076"/>
            <a:ext cx="7705725" cy="4057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24C4CE-CA27-71A8-DA39-756C68D7728E}"/>
              </a:ext>
            </a:extLst>
          </p:cNvPr>
          <p:cNvSpPr txBox="1"/>
          <p:nvPr/>
        </p:nvSpPr>
        <p:spPr>
          <a:xfrm>
            <a:off x="303626" y="5526378"/>
            <a:ext cx="10753649" cy="830997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48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https://www.linkedin.com/in/saidfawzy/</a:t>
            </a:r>
          </a:p>
        </p:txBody>
      </p:sp>
    </p:spTree>
    <p:extLst>
      <p:ext uri="{BB962C8B-B14F-4D97-AF65-F5344CB8AC3E}">
        <p14:creationId xmlns:p14="http://schemas.microsoft.com/office/powerpoint/2010/main" val="18276120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/>
          <p:cNvSpPr>
            <a:spLocks noGrp="1"/>
          </p:cNvSpPr>
          <p:nvPr>
            <p:ph type="title"/>
          </p:nvPr>
        </p:nvSpPr>
        <p:spPr>
          <a:xfrm>
            <a:off x="1952625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Happy to hear from you</a:t>
            </a:r>
          </a:p>
        </p:txBody>
      </p:sp>
      <p:sp>
        <p:nvSpPr>
          <p:cNvPr id="111619" name="TextBox 3"/>
          <p:cNvSpPr txBox="1">
            <a:spLocks noChangeArrowheads="1"/>
          </p:cNvSpPr>
          <p:nvPr/>
        </p:nvSpPr>
        <p:spPr bwMode="auto">
          <a:xfrm>
            <a:off x="4310063" y="3060700"/>
            <a:ext cx="5572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000" dirty="0">
                <a:latin typeface="Calibri" panose="020F0502020204030204" pitchFamily="34" charset="0"/>
              </a:rPr>
              <a:t>Said_fawzy@hotmail.com</a:t>
            </a:r>
          </a:p>
        </p:txBody>
      </p:sp>
      <p:sp>
        <p:nvSpPr>
          <p:cNvPr id="111620" name="TextBox 4"/>
          <p:cNvSpPr txBox="1">
            <a:spLocks noChangeArrowheads="1"/>
          </p:cNvSpPr>
          <p:nvPr/>
        </p:nvSpPr>
        <p:spPr bwMode="auto">
          <a:xfrm>
            <a:off x="4571972" y="4759324"/>
            <a:ext cx="30307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 b="1" i="1" dirty="0">
                <a:latin typeface="Calibri" panose="020F0502020204030204" pitchFamily="34" charset="0"/>
              </a:rPr>
              <a:t>@</a:t>
            </a:r>
            <a:r>
              <a:rPr lang="en-US" altLang="en-US" sz="4400" b="1" i="1" dirty="0" err="1">
                <a:latin typeface="Calibri" panose="020F0502020204030204" pitchFamily="34" charset="0"/>
              </a:rPr>
              <a:t>saidfawzy</a:t>
            </a:r>
            <a:endParaRPr lang="en-US" altLang="en-US" sz="4400" dirty="0">
              <a:latin typeface="Calibri" panose="020F0502020204030204" pitchFamily="34" charset="0"/>
            </a:endParaRPr>
          </a:p>
        </p:txBody>
      </p:sp>
      <p:pic>
        <p:nvPicPr>
          <p:cNvPr id="1116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860" y="4111625"/>
            <a:ext cx="1612353" cy="44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075" y="4915444"/>
            <a:ext cx="173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310063" y="1000125"/>
            <a:ext cx="36449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6000" b="1" dirty="0">
                <a:solidFill>
                  <a:srgbClr val="0070C0"/>
                </a:solidFill>
                <a:latin typeface="+mj-lt"/>
                <a:ea typeface="+mj-ea"/>
                <a:cs typeface="Times New Roman" pitchFamily="18" charset="0"/>
              </a:rPr>
              <a:t>Said Fawzy</a:t>
            </a:r>
            <a:endParaRPr lang="ar-EG" sz="6000" b="1" dirty="0">
              <a:solidFill>
                <a:srgbClr val="0070C0"/>
              </a:solidFill>
              <a:latin typeface="+mj-lt"/>
              <a:ea typeface="+mj-ea"/>
              <a:cs typeface="Times New Roman" pitchFamily="18" charset="0"/>
            </a:endParaRPr>
          </a:p>
        </p:txBody>
      </p:sp>
      <p:sp>
        <p:nvSpPr>
          <p:cNvPr id="111629" name="TextBox 12"/>
          <p:cNvSpPr txBox="1">
            <a:spLocks noChangeArrowheads="1"/>
          </p:cNvSpPr>
          <p:nvPr/>
        </p:nvSpPr>
        <p:spPr bwMode="auto">
          <a:xfrm>
            <a:off x="4437177" y="2303244"/>
            <a:ext cx="33906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3600" b="1" dirty="0">
                <a:solidFill>
                  <a:schemeClr val="bg2">
                    <a:lumMod val="10000"/>
                  </a:schemeClr>
                </a:solidFill>
              </a:rPr>
              <a:t>0122 744 99 87</a:t>
            </a:r>
            <a:endParaRPr lang="ar-EG" altLang="en-US" sz="3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49520" y="3971637"/>
            <a:ext cx="67566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https://www.facebook.com/saidfawzy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244" y="2239122"/>
            <a:ext cx="876969" cy="790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386" y="3105165"/>
            <a:ext cx="1014684" cy="8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28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80399" y="2364333"/>
            <a:ext cx="9345828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C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Course Outline </a:t>
            </a:r>
          </a:p>
        </p:txBody>
      </p:sp>
    </p:spTree>
    <p:extLst>
      <p:ext uri="{BB962C8B-B14F-4D97-AF65-F5344CB8AC3E}">
        <p14:creationId xmlns:p14="http://schemas.microsoft.com/office/powerpoint/2010/main" val="385480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3009" y="327588"/>
            <a:ext cx="10074235" cy="586378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1: What is a Database.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2: Exploring MS Access.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3: Entity Relationship Diagram ERD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4: Logical Model</a:t>
            </a:r>
          </a:p>
          <a:p>
            <a:pPr>
              <a:lnSpc>
                <a:spcPct val="200000"/>
              </a:lnSpc>
            </a:pPr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5: Tables in MS Access</a:t>
            </a:r>
          </a:p>
          <a:p>
            <a:pPr>
              <a:lnSpc>
                <a:spcPct val="200000"/>
              </a:lnSpc>
            </a:pPr>
            <a:endParaRPr lang="en-US" sz="32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8856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53575" y="726373"/>
            <a:ext cx="11760530" cy="42805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6: Structured Query Language (SQL).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7: Query Basics in MS Access.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8: Form Basics in MS Access.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9: Report Basics in MS Access.</a:t>
            </a:r>
          </a:p>
          <a:p>
            <a:pPr>
              <a:lnSpc>
                <a:spcPct val="200000"/>
              </a:lnSpc>
            </a:pPr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Chapter 10: Project.</a:t>
            </a:r>
          </a:p>
        </p:txBody>
      </p:sp>
    </p:spTree>
    <p:extLst>
      <p:ext uri="{BB962C8B-B14F-4D97-AF65-F5344CB8AC3E}">
        <p14:creationId xmlns:p14="http://schemas.microsoft.com/office/powerpoint/2010/main" val="40659958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>
          <a:xfrm>
            <a:off x="945917" y="152236"/>
            <a:ext cx="8229600" cy="1143000"/>
          </a:xfrm>
        </p:spPr>
        <p:txBody>
          <a:bodyPr/>
          <a:lstStyle/>
          <a:p>
            <a:pPr algn="l" rtl="0" eaLnBrk="1" hangingPunct="1"/>
            <a:r>
              <a:rPr lang="en-US" altLang="en-US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Training</a:t>
            </a:r>
            <a:endParaRPr lang="ar-EG" altLang="en-US" sz="5400" b="1" dirty="0">
              <a:solidFill>
                <a:srgbClr val="FF0000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6807" y="4467226"/>
            <a:ext cx="11097993" cy="2390775"/>
            <a:chOff x="-1117537" y="4467218"/>
            <a:chExt cx="10032091" cy="2390782"/>
          </a:xfrm>
        </p:grpSpPr>
        <p:pic>
          <p:nvPicPr>
            <p:cNvPr id="9226" name="Picture 3" descr="C:\Program Files\Microsoft Office\MEDIA\CAGCAT10\j0240695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9322" y="4467218"/>
              <a:ext cx="2985232" cy="23907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-1117537" y="5409568"/>
              <a:ext cx="5754847" cy="7078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4000" dirty="0"/>
                <a:t>Let me do it I will understand.</a:t>
              </a:r>
              <a:endParaRPr lang="ar-EG" sz="4000" dirty="0"/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57200" y="2500313"/>
            <a:ext cx="11277600" cy="2565400"/>
            <a:chOff x="500034" y="2500306"/>
            <a:chExt cx="8056582" cy="2565817"/>
          </a:xfrm>
        </p:grpSpPr>
        <p:sp>
          <p:nvSpPr>
            <p:cNvPr id="8" name="Rectangle 7"/>
            <p:cNvSpPr/>
            <p:nvPr/>
          </p:nvSpPr>
          <p:spPr>
            <a:xfrm>
              <a:off x="4198918" y="3009183"/>
              <a:ext cx="4357698" cy="120034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3600" dirty="0"/>
                <a:t>Show me I might remember something.</a:t>
              </a:r>
            </a:p>
          </p:txBody>
        </p:sp>
        <p:pic>
          <p:nvPicPr>
            <p:cNvPr id="9225" name="Picture 4" descr="C:\Program Files\Microsoft Office\MEDIA\CAGCAT10\j0301252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034" y="2500306"/>
              <a:ext cx="3000396" cy="2565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2916269" y="719654"/>
            <a:ext cx="8818531" cy="2006600"/>
            <a:chOff x="1283388" y="743989"/>
            <a:chExt cx="7503454" cy="2007267"/>
          </a:xfrm>
        </p:grpSpPr>
        <p:sp>
          <p:nvSpPr>
            <p:cNvPr id="7" name="Rectangle 6"/>
            <p:cNvSpPr/>
            <p:nvPr/>
          </p:nvSpPr>
          <p:spPr>
            <a:xfrm>
              <a:off x="1283388" y="1352205"/>
              <a:ext cx="3258047" cy="64654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3600" dirty="0"/>
                <a:t>Tell me I will forget.</a:t>
              </a:r>
            </a:p>
          </p:txBody>
        </p:sp>
        <p:pic>
          <p:nvPicPr>
            <p:cNvPr id="9223" name="Picture 5" descr="C:\Users\saidfawzy.TENDERS\AppData\Local\Microsoft\Windows\Temporary Internet Files\Content.IE5\XG5JW5O4\MPj04422270000[1]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8" y="743989"/>
              <a:ext cx="3071834" cy="200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16280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FFA30A-25FE-20DC-54DF-A80F8176B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10" y="499749"/>
            <a:ext cx="4242373" cy="2357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2A86F-782A-81AA-75B6-7C9D5C3B0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854" y="3114861"/>
            <a:ext cx="2148746" cy="27004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CD106A-5D00-E2F5-1F0C-1EAFB5419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4362" y="2878741"/>
            <a:ext cx="2736173" cy="2243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7742C5-C71E-C6A4-908F-69F83C830E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9538" y="2648137"/>
            <a:ext cx="2152650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19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981075" y="3240488"/>
            <a:ext cx="2545377" cy="3143842"/>
            <a:chOff x="981075" y="3240488"/>
            <a:chExt cx="2545377" cy="3143842"/>
          </a:xfrm>
        </p:grpSpPr>
        <p:pic>
          <p:nvPicPr>
            <p:cNvPr id="2050" name="Picture 2" descr="http://www.equinoxpub.com/blog/wp-content/uploads/2014/09/Religion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1075" y="3240488"/>
              <a:ext cx="2308225" cy="2220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Rectangle 1"/>
            <p:cNvSpPr/>
            <p:nvPr/>
          </p:nvSpPr>
          <p:spPr>
            <a:xfrm>
              <a:off x="981075" y="5461000"/>
              <a:ext cx="254537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Religion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735999" y="3359485"/>
            <a:ext cx="2352675" cy="3347042"/>
            <a:chOff x="4384096" y="3189688"/>
            <a:chExt cx="2352675" cy="3347042"/>
          </a:xfrm>
        </p:grpSpPr>
        <p:pic>
          <p:nvPicPr>
            <p:cNvPr id="2054" name="Picture 6" descr="http://www.commlawblog.com/files/2014/10/political-candidate-1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4096" y="3189688"/>
              <a:ext cx="2352675" cy="21431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384096" y="5613400"/>
              <a:ext cx="191116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Policy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8480425" y="3359485"/>
            <a:ext cx="3019425" cy="3024845"/>
            <a:chOff x="8480425" y="3359485"/>
            <a:chExt cx="3019425" cy="3024845"/>
          </a:xfrm>
        </p:grpSpPr>
        <p:sp>
          <p:nvSpPr>
            <p:cNvPr id="5" name="Rectangle 4"/>
            <p:cNvSpPr/>
            <p:nvPr/>
          </p:nvSpPr>
          <p:spPr>
            <a:xfrm>
              <a:off x="8772525" y="5461000"/>
              <a:ext cx="209704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50" dirty="0">
                  <a:ln w="0"/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Soccer</a:t>
              </a:r>
            </a:p>
          </p:txBody>
        </p:sp>
        <p:pic>
          <p:nvPicPr>
            <p:cNvPr id="2056" name="Picture 8" descr="http://www.wired.com/wp-content/uploads/images_blogs/playbook/2012/10/soccer-arsenal-v-liverpool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0425" y="3359485"/>
              <a:ext cx="3019425" cy="2007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6"/>
          <p:cNvSpPr/>
          <p:nvPr/>
        </p:nvSpPr>
        <p:spPr>
          <a:xfrm>
            <a:off x="1658627" y="494903"/>
            <a:ext cx="704596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You are Allowed to Talk </a:t>
            </a:r>
          </a:p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effectLst>
                  <a:outerShdw dist="38100" dir="2700000" algn="tl" rotWithShape="0">
                    <a:schemeClr val="accent2"/>
                  </a:outerShdw>
                </a:effectLst>
              </a:rPr>
              <a:t>about anything except </a:t>
            </a:r>
          </a:p>
        </p:txBody>
      </p:sp>
    </p:spTree>
    <p:extLst>
      <p:ext uri="{BB962C8B-B14F-4D97-AF65-F5344CB8AC3E}">
        <p14:creationId xmlns:p14="http://schemas.microsoft.com/office/powerpoint/2010/main" val="25816776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" descr="Thank You Messages for Lectures and Presentations">
            <a:extLst>
              <a:ext uri="{FF2B5EF4-FFF2-40B4-BE49-F238E27FC236}">
                <a16:creationId xmlns:a16="http://schemas.microsoft.com/office/drawing/2014/main" id="{ACBEEE0B-4048-7162-914E-9F50594F48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36E25A-C259-B9EC-9F47-8A013988E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496" y="409153"/>
            <a:ext cx="5249008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18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334</Words>
  <Application>Microsoft Office PowerPoint</Application>
  <PresentationFormat>Widescreen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About Me</vt:lpstr>
      <vt:lpstr>About Me (cont.)</vt:lpstr>
      <vt:lpstr>About Me (cont.)</vt:lpstr>
      <vt:lpstr>About Me (cont.)</vt:lpstr>
      <vt:lpstr>PowerPoint Presentation</vt:lpstr>
      <vt:lpstr>PowerPoint Presentation</vt:lpstr>
      <vt:lpstr>PowerPoint Presentation</vt:lpstr>
      <vt:lpstr>Happy to hear from you</vt:lpstr>
      <vt:lpstr>PowerPoint Presentation</vt:lpstr>
      <vt:lpstr>PowerPoint Presentation</vt:lpstr>
      <vt:lpstr>PowerPoint Presentation</vt:lpstr>
      <vt:lpstr> Training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Said Fawzy</dc:creator>
  <cp:lastModifiedBy>Said Fawzy</cp:lastModifiedBy>
  <cp:revision>7</cp:revision>
  <dcterms:created xsi:type="dcterms:W3CDTF">2023-05-21T05:44:35Z</dcterms:created>
  <dcterms:modified xsi:type="dcterms:W3CDTF">2023-06-05T12:14:45Z</dcterms:modified>
</cp:coreProperties>
</file>